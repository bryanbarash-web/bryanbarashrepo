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5"/>
  </p:sldMasterIdLst>
  <p:notesMasterIdLst>
    <p:notesMasterId r:id="rId6"/>
  </p:notesMasterIdLst>
  <p:sldIdLst>
    <p:sldId id="256" r:id="rId23"/>
    <p:sldId id="257" r:id="rId24"/>
    <p:sldId id="258" r:id="rId25"/>
    <p:sldId id="259" r:id="rId26"/>
    <p:sldId id="260" r:id="rId27"/>
    <p:sldId id="261" r:id="rId28"/>
    <p:sldId id="262" r:id="rId29"/>
    <p:sldId id="263" r:id="rId30"/>
    <p:sldId id="264" r:id="rId31"/>
    <p:sldId id="265" r:id="rId32"/>
    <p:sldId id="266" r:id="rId33"/>
    <p:sldId id="267" r:id="rId34"/>
    <p:sldId id="268" r:id="rId35"/>
    <p:sldId id="269" r:id="rId36"/>
    <p:sldId id="270" r:id="rId37"/>
    <p:sldId id="271" r:id="rId38"/>
    <p:sldId id="272" r:id="rId39"/>
  </p:sldIdLst>
  <p:sldSz cy="5143500" cx="9144000"/>
  <p:notesSz cx="6858000" cy="9144000"/>
  <p:embeddedFontLst>
    <p:embeddedFont>
      <p:font typeface="Inter SemiBold"/>
      <p:regular r:id="rId49"/>
      <p:bold r:id="rId50"/>
      <p:italic r:id="rId51"/>
      <p:boldItalic r:id="rId52"/>
    </p:embeddedFont>
    <p:embeddedFont>
      <p:font typeface="Inter"/>
      <p:regular r:id="rId53"/>
      <p:bold r:id="rId54"/>
      <p:italic r:id="rId55"/>
      <p:boldItalic r:id="rId56"/>
    </p:embeddedFont>
    <p:embeddedFont>
      <p:font typeface="Albert Sans SemiBold"/>
      <p:regular r:id="rId57"/>
      <p:bold r:id="rId58"/>
      <p:italic r:id="rId59"/>
      <p:boldItalic r:id="rId60"/>
    </p:embeddedFont>
    <p:embeddedFont>
      <p:font typeface="Inter Medium"/>
      <p:regular r:id="rId61"/>
      <p:bold r:id="rId62"/>
      <p:italic r:id="rId63"/>
      <p:boldItalic r:id="rId6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99147C0-4977-4EF0-9D32-9B7106216888}">
  <a:tblStyle styleId="{499147C0-4977-4EF0-9D32-9B710621688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3" Type="http://schemas.openxmlformats.org/officeDocument/2006/relationships/slide" Target="slides/slide1.xml"/><Relationship Id="rId24" Type="http://schemas.openxmlformats.org/officeDocument/2006/relationships/slide" Target="slides/slide2.xml"/><Relationship Id="rId25" Type="http://schemas.openxmlformats.org/officeDocument/2006/relationships/slide" Target="slides/slide3.xml"/><Relationship Id="rId26" Type="http://schemas.openxmlformats.org/officeDocument/2006/relationships/slide" Target="slides/slide4.xml"/><Relationship Id="rId27" Type="http://schemas.openxmlformats.org/officeDocument/2006/relationships/slide" Target="slides/slide5.xml"/><Relationship Id="rId28" Type="http://schemas.openxmlformats.org/officeDocument/2006/relationships/slide" Target="slides/slide6.xml"/><Relationship Id="rId29" Type="http://schemas.openxmlformats.org/officeDocument/2006/relationships/slide" Target="slides/slide7.xml"/><Relationship Id="rId30" Type="http://schemas.openxmlformats.org/officeDocument/2006/relationships/slide" Target="slides/slide8.xml"/><Relationship Id="rId31" Type="http://schemas.openxmlformats.org/officeDocument/2006/relationships/slide" Target="slides/slide9.xml"/><Relationship Id="rId32" Type="http://schemas.openxmlformats.org/officeDocument/2006/relationships/slide" Target="slides/slide10.xml"/><Relationship Id="rId33" Type="http://schemas.openxmlformats.org/officeDocument/2006/relationships/slide" Target="slides/slide11.xml"/><Relationship Id="rId34" Type="http://schemas.openxmlformats.org/officeDocument/2006/relationships/slide" Target="slides/slide12.xml"/><Relationship Id="rId35" Type="http://schemas.openxmlformats.org/officeDocument/2006/relationships/slide" Target="slides/slide13.xml"/><Relationship Id="rId36" Type="http://schemas.openxmlformats.org/officeDocument/2006/relationships/slide" Target="slides/slide14.xml"/><Relationship Id="rId37" Type="http://schemas.openxmlformats.org/officeDocument/2006/relationships/slide" Target="slides/slide15.xml"/><Relationship Id="rId38" Type="http://schemas.openxmlformats.org/officeDocument/2006/relationships/slide" Target="slides/slide16.xml"/><Relationship Id="rId39" Type="http://schemas.openxmlformats.org/officeDocument/2006/relationships/slide" Target="slides/slide17.xml"/><Relationship Id="rId49" Type="http://schemas.openxmlformats.org/officeDocument/2006/relationships/font" Target="fonts/InterSemiBold-regular.fntdata"/><Relationship Id="rId50" Type="http://schemas.openxmlformats.org/officeDocument/2006/relationships/font" Target="fonts/InterSemiBold-bold.fntdata"/><Relationship Id="rId51" Type="http://schemas.openxmlformats.org/officeDocument/2006/relationships/font" Target="fonts/InterSemiBold-italic.fntdata"/><Relationship Id="rId52" Type="http://schemas.openxmlformats.org/officeDocument/2006/relationships/font" Target="fonts/InterSemiBold-boldItalic.fntdata"/><Relationship Id="rId53" Type="http://schemas.openxmlformats.org/officeDocument/2006/relationships/font" Target="fonts/Inter-regular.fntdata"/><Relationship Id="rId54" Type="http://schemas.openxmlformats.org/officeDocument/2006/relationships/font" Target="fonts/Inter-bold.fntdata"/><Relationship Id="rId55" Type="http://schemas.openxmlformats.org/officeDocument/2006/relationships/font" Target="fonts/Inter-italic.fntdata"/><Relationship Id="rId56" Type="http://schemas.openxmlformats.org/officeDocument/2006/relationships/font" Target="fonts/Inter-boldItalic.fntdata"/><Relationship Id="rId57" Type="http://schemas.openxmlformats.org/officeDocument/2006/relationships/font" Target="fonts/AlbertSansSemiBold-regular.fntdata"/><Relationship Id="rId58" Type="http://schemas.openxmlformats.org/officeDocument/2006/relationships/font" Target="fonts/AlbertSansSemiBold-bold.fntdata"/><Relationship Id="rId59" Type="http://schemas.openxmlformats.org/officeDocument/2006/relationships/font" Target="fonts/AlbertSansSemiBold-italic.fntdata"/><Relationship Id="rId60" Type="http://schemas.openxmlformats.org/officeDocument/2006/relationships/font" Target="fonts/AlbertSansSemiBold-boldItalic.fntdata"/><Relationship Id="rId61" Type="http://schemas.openxmlformats.org/officeDocument/2006/relationships/font" Target="fonts/InterMedium-regular.fntdata"/><Relationship Id="rId62" Type="http://schemas.openxmlformats.org/officeDocument/2006/relationships/font" Target="fonts/InterMedium-bold.fntdata"/><Relationship Id="rId63" Type="http://schemas.openxmlformats.org/officeDocument/2006/relationships/font" Target="fonts/InterMedium-italic.fntdata"/><Relationship Id="rId64" Type="http://schemas.openxmlformats.org/officeDocument/2006/relationships/font" Target="fonts/InterMedium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Canvas">
  <p:cSld name="TITLE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Tilda 101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Non-Engineer's Guide to Dutchie's AI Assistant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Tilda?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Your AI Swiss Army Knife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Tilda is Dutchie's AI-powered assistant that lives in Slack.</a:t>
            </a:r>
          </a:p>
          <a:p/>
          <a:p>
            <a:r>
              <a:t>Think of Tilda as a Swiss Army knife — one tool with many capabilities.</a:t>
            </a:r>
          </a:p>
          <a:p/>
          <a:p>
            <a:r>
              <a:t>Originally called TLDRBot (summarizing Slack threads), Tilda evolved into a full AI assistant that can search Confluence, manage JIRA tickets, query Datadog, analyze documents, and much more.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Does Tilda Work?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Brain vs. The Body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Claude (by Anthropic) = The Brain</a:t>
            </a:r>
          </a:p>
          <a:p>
            <a:r>
              <a:t>• The AI model that reasons, writes, and makes decisions</a:t>
            </a:r>
          </a:p>
          <a:p/>
          <a:p>
            <a:r>
              <a:t>tilda-bot = The Body</a:t>
            </a:r>
          </a:p>
          <a:p>
            <a:r>
              <a:t>• The Slack bot infrastructure that connects Claude to Dutchie's tools</a:t>
            </a:r>
          </a:p>
          <a:p/>
          <a:p>
            <a:r>
              <a:t>Think of it like a football quarterback:</a:t>
            </a:r>
          </a:p>
          <a:p>
            <a:r>
              <a:t>• Claude reads the field and calls the play</a:t>
            </a:r>
          </a:p>
          <a:p>
            <a:r>
              <a:t>• tilda-bot executes by throwing to the right receiver (Confluence, JIRA, Datadog, etc.)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Sensitive Information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Ground Rules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• Never share PII (customer data, credentials, API keys) with Tilda</a:t>
            </a:r>
          </a:p>
          <a:p>
            <a:r>
              <a:t>• Tilda has memory — she may recall prior conversations</a:t>
            </a:r>
          </a:p>
          <a:p>
            <a:r>
              <a:t>• Public channels: Tilda's responses are visible to everyone</a:t>
            </a:r>
          </a:p>
          <a:p>
            <a:r>
              <a:t>• Private/DM: Conversations are between you and Tilda</a:t>
            </a:r>
          </a:p>
          <a:p>
            <a:r>
              <a:t>• When in doubt, use a DM</a:t>
            </a:r>
          </a:p>
          <a:p>
            <a:r>
              <a:t>• Tilda follows Dutchie's Competitive Claims Guardrails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Can Tilda Do?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Current &amp; Future Integrations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Integrations:</a:t>
            </a:r>
          </a:p>
          <a:p>
            <a:r>
              <a:t>• Slack (threads, channels, search)</a:t>
            </a:r>
          </a:p>
          <a:p>
            <a:r>
              <a:t>• Confluence (pages, spaces, search)</a:t>
            </a:r>
          </a:p>
          <a:p>
            <a:r>
              <a:t>• JIRA (tickets, search, updates)</a:t>
            </a:r>
          </a:p>
          <a:p>
            <a:r>
              <a:t>• Monday.com (boards, items)</a:t>
            </a:r>
          </a:p>
          <a:p>
            <a:r>
              <a:t>• Pendo (analytics)</a:t>
            </a:r>
          </a:p>
          <a:p>
            <a:r>
              <a:t>• LaunchDarkly (feature flags)</a:t>
            </a:r>
          </a:p>
          <a:p>
            <a:r>
              <a:t>• incident.io (incidents)</a:t>
            </a:r>
          </a:p>
          <a:p>
            <a:r>
              <a:t>• Vision (images, PDFs)</a:t>
            </a:r>
          </a:p>
          <a:p>
            <a:r>
              <a:t>• Memory (cross-conversation)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Future Integrations:</a:t>
            </a:r>
          </a:p>
          <a:p>
            <a:r>
              <a:t>• Gong (call recordings)</a:t>
            </a:r>
          </a:p>
          <a:p>
            <a:r>
              <a:t>• Snowflake (data warehouse)</a:t>
            </a:r>
          </a:p>
          <a:p>
            <a:r>
              <a:t>• Google Docs/Drive</a:t>
            </a:r>
          </a:p>
          <a:p>
            <a:r>
              <a:t>• Salesforce (CRM)</a:t>
            </a:r>
          </a:p>
          <a:p>
            <a:r>
              <a:t>• Zendesk (support tickets)</a:t>
            </a:r>
          </a:p>
          <a:p/>
          <a:p>
            <a:r>
              <a:t>Tilda's architecture is modular — new integrations are added as skills.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Bilda?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Tilda's AI Coding Agent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Bilda is Tilda's coding counterpart — an AI agent that writes and ships code.</a:t>
            </a:r>
          </a:p>
          <a:p/>
          <a:p>
            <a:r>
              <a:t>The 6-Step 'Game Day' Process:</a:t>
            </a:r>
          </a:p>
          <a:p>
            <a:r>
              <a:t>1. Instructions — Bilda receives a task description</a:t>
            </a:r>
          </a:p>
          <a:p>
            <a:r>
              <a:t>2. Sandbox — Spins up an isolated dev environment</a:t>
            </a:r>
          </a:p>
          <a:p>
            <a:r>
              <a:t>3. Coding — Writes the code changes</a:t>
            </a:r>
          </a:p>
          <a:p>
            <a:r>
              <a:t>4. Pull Request — Opens a PR on GitHub</a:t>
            </a:r>
          </a:p>
          <a:p>
            <a:r>
              <a:t>5. Review — Human reviews and approves</a:t>
            </a:r>
          </a:p>
          <a:p>
            <a:r>
              <a:t>6. Deploy — Code ships to production</a:t>
            </a:r>
          </a:p>
          <a:p/>
          <a:p>
            <a:r>
              <a:t>Bilda never deploys without human approval.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Does Tilda Learn?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Three Ways Tilda Improves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1. Memory (Instant)</a:t>
            </a:r>
          </a:p>
          <a:p>
            <a:r>
              <a:t>• Tilda remembers facts across conversations</a:t>
            </a:r>
          </a:p>
          <a:p>
            <a:r>
              <a:t>• Tell her once, she knows going forward</a:t>
            </a:r>
          </a:p>
          <a:p/>
          <a:p>
            <a:r>
              <a:t>2. Bilda / Code Changes (Hours–Days)</a:t>
            </a:r>
          </a:p>
          <a:p>
            <a:r>
              <a:t>• New features and integrations built by Bilda</a:t>
            </a:r>
          </a:p>
          <a:p>
            <a:r>
              <a:t>• Reviewed and deployed by engineers</a:t>
            </a:r>
          </a:p>
          <a:p/>
          <a:p>
            <a:r>
              <a:t>3. Skills (Modular)</a:t>
            </a:r>
          </a:p>
          <a:p>
            <a:r>
              <a:t>• Pre-built capability packages</a:t>
            </a:r>
          </a:p>
          <a:p>
            <a:r>
              <a:t>• Installed like apps — plug and play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Tips &amp; Best Practices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 Tips for Working with Tilda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1. Be specific — the more context you give, the better the output</a:t>
            </a:r>
          </a:p>
          <a:p>
            <a:r>
              <a:t>2. Iterate — ask follow-ups to refine answers</a:t>
            </a:r>
          </a:p>
          <a:p>
            <a:r>
              <a:t>3. Use DMs for sensitive topics</a:t>
            </a:r>
          </a:p>
          <a:p>
            <a:r>
              <a:t>4. Tag @tilda in channels where she's invited</a:t>
            </a:r>
          </a:p>
          <a:p>
            <a:r>
              <a:t>5. She can read images and PDFs — just attach them</a:t>
            </a:r>
          </a:p>
          <a:p>
            <a:r>
              <a:t>6. Ask her to search before assuming she doesn't know</a:t>
            </a:r>
          </a:p>
          <a:p>
            <a:r>
              <a:t>7. If she's wrong, correct her — she'll remember</a:t>
            </a:r>
          </a:p>
          <a:p>
            <a:r>
              <a:t>8. Think of her as a teammate, not a search engine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Cast of Characters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Tilda — AI assistant in Slack (the quarterback)</a:t>
            </a:r>
          </a:p>
          <a:p>
            <a:r>
              <a:t>Claude — AI brain by Anthropic (the mind)</a:t>
            </a:r>
          </a:p>
          <a:p>
            <a:r>
              <a:t>Bilda — AI coding agent (the builder)</a:t>
            </a:r>
          </a:p>
          <a:p>
            <a:r>
              <a:t>TCM / Signum — Plugin system (the playbook)</a:t>
            </a:r>
          </a:p>
          <a:p>
            <a:r>
              <a:t>tilda-bot — Slack infrastructure (the body)</a:t>
            </a:r>
          </a:p>
          <a:p>
            <a:r>
              <a:t>Pull Requests — Code review process (the referee)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